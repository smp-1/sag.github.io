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8" r:id="rId19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 Light"/>
              </a:defRPr>
            </a:pPr>
            <a:r>
              <a:t>Application Numérique de Localisation</a:t>
            </a:r>
            <a:br/>
            <a:r>
              <a:t>des Lieux de Vote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C4E8"/>
                </a:solidFill>
                <a:latin typeface="Calibri"/>
              </a:defRPr>
            </a:pPr>
            <a:r>
              <a:t>République du Congo — Élections Législatives et Locales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114800"/>
            <a:ext cx="3047695" cy="36576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B4D6"/>
                </a:solidFill>
                <a:latin typeface="Calibri"/>
              </a:defRPr>
            </a:pPr>
            <a:r>
              <a:t>Présentation du Projet — État d'avancement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A94B6"/>
                </a:solidFill>
                <a:latin typeface="Calibri"/>
              </a:defRPr>
            </a:pPr>
            <a:r>
              <a:t>Septembre 2026 · Version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1.  Contexte et enjeux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2.  Problématique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3.  Objectifs du projet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4.  Fonctionnalités principales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5.  Principe de fonctionnement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6.  Architecture technique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7.  Parties prenantes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8.  Plan de projet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9.  État d'avancement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10. Résultats attendus</a:t>
            </a:r>
          </a:p>
          <a:p>
            <a:pPr>
              <a:spcAft>
                <a:spcPts val="1400"/>
              </a:spcAft>
              <a:defRPr sz="2000">
                <a:solidFill>
                  <a:srgbClr val="2D3A4A"/>
                </a:solidFill>
                <a:latin typeface="Calibri"/>
              </a:defRPr>
            </a:pPr>
            <a:r>
              <a:t>11. Vision à long terme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1. CONTEXTE ET ENJEUX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6B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A4A"/>
                </a:solidFill>
                <a:latin typeface="Calibri"/>
              </a:defRPr>
            </a:pPr>
            <a:r>
              <a:t>• Élections législatives et locales prévues en 2027</a:t>
            </a:r>
          </a:p>
          <a:p>
            <a:pPr>
              <a:spcAft>
                <a:spcPts val="1200"/>
              </a:spcAft>
              <a:defRPr sz="1600">
                <a:solidFill>
                  <a:srgbClr val="2D3A4A"/>
                </a:solidFill>
                <a:latin typeface="Calibri"/>
              </a:defRPr>
            </a:pPr>
            <a:r>
              <a:t>• Accès rapide à l’information électorale = enjeu majeur</a:t>
            </a:r>
          </a:p>
          <a:p>
            <a:pPr>
              <a:spcAft>
                <a:spcPts val="1200"/>
              </a:spcAft>
              <a:defRPr sz="1600">
                <a:solidFill>
                  <a:srgbClr val="2D3A4A"/>
                </a:solidFill>
                <a:latin typeface="Calibri"/>
              </a:defRPr>
            </a:pPr>
            <a:r>
              <a:t>• Grandes agglomérations : quartiers évoluent, populations se déplacent</a:t>
            </a:r>
          </a:p>
          <a:p>
            <a:pPr>
              <a:spcAft>
                <a:spcPts val="1200"/>
              </a:spcAft>
              <a:defRPr sz="1600">
                <a:solidFill>
                  <a:srgbClr val="2D3A4A"/>
                </a:solidFill>
                <a:latin typeface="Calibri"/>
              </a:defRPr>
            </a:pPr>
            <a:r>
              <a:t>• Plusieurs bureaux de vote regroupés dans un même centre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F2C"/>
                </a:solidFill>
                <a:latin typeface="Calibri"/>
              </a:defRPr>
            </a:pPr>
            <a:r>
              <a:t>Enjeux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D3A4A"/>
                </a:solidFill>
                <a:latin typeface="Calibri"/>
              </a:defRPr>
            </a:pPr>
            <a:r>
              <a:t>• Fiabilité des listes électorales</a:t>
            </a:r>
          </a:p>
          <a:p>
            <a:pPr>
              <a:spcAft>
                <a:spcPts val="1200"/>
              </a:spcAft>
              <a:defRPr sz="1600">
                <a:solidFill>
                  <a:srgbClr val="2D3A4A"/>
                </a:solidFill>
                <a:latin typeface="Calibri"/>
              </a:defRPr>
            </a:pPr>
            <a:r>
              <a:t>• Affectation des électeurs aux bureaux de vote</a:t>
            </a:r>
          </a:p>
          <a:p>
            <a:pPr>
              <a:spcAft>
                <a:spcPts val="1200"/>
              </a:spcAft>
              <a:defRPr sz="1600">
                <a:solidFill>
                  <a:srgbClr val="2D3A4A"/>
                </a:solidFill>
                <a:latin typeface="Calibri"/>
              </a:defRPr>
            </a:pPr>
            <a:r>
              <a:t>• Faciliter la participation citoyenne</a:t>
            </a:r>
          </a:p>
          <a:p>
            <a:pPr>
              <a:spcAft>
                <a:spcPts val="1200"/>
              </a:spcAft>
              <a:defRPr sz="1600">
                <a:solidFill>
                  <a:srgbClr val="2D3A4A"/>
                </a:solidFill>
                <a:latin typeface="Calibri"/>
              </a:defRPr>
            </a:pPr>
            <a:r>
              <a:t>• Réduire les déplacements inutiles le jour du scrutin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2.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62828"/>
                </a:solidFill>
                <a:latin typeface="Calibri"/>
              </a:defRPr>
            </a:pPr>
            <a:r>
              <a:t>De nombreux électeurs rencontrent des difficultés pour déterminer leur lieu de vote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38328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6B"/>
                </a:solidFill>
                <a:latin typeface="Calibri"/>
              </a:defRPr>
            </a:pPr>
            <a:r>
              <a:t>Centre de vote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Où se trouve mon centre ?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926080"/>
            <a:ext cx="338328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6B"/>
                </a:solidFill>
                <a:latin typeface="Calibri"/>
              </a:defRPr>
            </a:pPr>
            <a:r>
              <a:t>Bureau de vote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3657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Dans quel bureau suis-je inscrit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926080"/>
            <a:ext cx="338328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6B"/>
                </a:solidFill>
                <a:latin typeface="Calibri"/>
              </a:defRPr>
            </a:pPr>
            <a:r>
              <a:t>Adresse exacte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Quelle est l’adresse du lieu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54880"/>
            <a:ext cx="338328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6B"/>
                </a:solidFill>
                <a:latin typeface="Calibri"/>
              </a:defRPr>
            </a:pPr>
            <a:r>
              <a:t>Circonscription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Quel quartier/circonscription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59" y="4754880"/>
            <a:ext cx="338328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39" y="4937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6B"/>
                </a:solidFill>
                <a:latin typeface="Calibri"/>
              </a:defRPr>
            </a:pPr>
            <a:r>
              <a:t>Itinéraire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39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Comment s’y rendre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754880"/>
            <a:ext cx="338328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937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6B"/>
                </a:solidFill>
                <a:latin typeface="Calibri"/>
              </a:defRPr>
            </a:pPr>
            <a:r>
              <a:t>Inscription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Suis-je bien inscrit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3. OBJECTIFS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Calibri"/>
              </a:defRPr>
            </a:pPr>
            <a:r>
              <a:t>Objectif Général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A4A"/>
                </a:solidFill>
                <a:latin typeface="Calibri"/>
              </a:defRPr>
            </a:pPr>
            <a:r>
              <a:t>Faciliter l’accès des citoyens à leur lieu de vote grâce à une plateforme numérique de recherche et de géolocalisation des bureaux de vote.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6B"/>
                </a:solidFill>
                <a:latin typeface="Calibri"/>
              </a:defRPr>
            </a:pPr>
            <a:r>
              <a:t>Objectifs Spécifiques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A4A"/>
                </a:solidFill>
                <a:latin typeface="Calibri"/>
              </a:defRPr>
            </a:pPr>
            <a:r>
              <a:t>Rechercher son lieu de vote à partir de ses informations électorales</a:t>
            </a:r>
          </a:p>
          <a:p>
            <a:pPr>
              <a:spcAft>
                <a:spcPts val="800"/>
              </a:spcAft>
              <a:defRPr sz="1500">
                <a:solidFill>
                  <a:srgbClr val="2D3A4A"/>
                </a:solidFill>
                <a:latin typeface="Calibri"/>
              </a:defRPr>
            </a:pPr>
            <a:r>
              <a:t>Identifier son centre et son bureau de vote</a:t>
            </a:r>
          </a:p>
          <a:p>
            <a:pPr>
              <a:spcAft>
                <a:spcPts val="800"/>
              </a:spcAft>
              <a:defRPr sz="1500">
                <a:solidFill>
                  <a:srgbClr val="2D3A4A"/>
                </a:solidFill>
                <a:latin typeface="Calibri"/>
              </a:defRPr>
            </a:pPr>
            <a:r>
              <a:t>Visualiser le lieu de vote sur une carte</a:t>
            </a:r>
          </a:p>
          <a:p>
            <a:pPr>
              <a:spcAft>
                <a:spcPts val="800"/>
              </a:spcAft>
              <a:defRPr sz="1500">
                <a:solidFill>
                  <a:srgbClr val="2D3A4A"/>
                </a:solidFill>
                <a:latin typeface="Calibri"/>
              </a:defRPr>
            </a:pPr>
            <a:r>
              <a:t>Obtenir l’adresse et les informations pratiques</a:t>
            </a:r>
          </a:p>
          <a:p>
            <a:pPr>
              <a:spcAft>
                <a:spcPts val="800"/>
              </a:spcAft>
              <a:defRPr sz="1500">
                <a:solidFill>
                  <a:srgbClr val="2D3A4A"/>
                </a:solidFill>
                <a:latin typeface="Calibri"/>
              </a:defRPr>
            </a:pPr>
            <a:r>
              <a:t>Obtenir un itinéraire pour se rendre au lieu de vote</a:t>
            </a:r>
          </a:p>
          <a:p>
            <a:pPr>
              <a:spcAft>
                <a:spcPts val="800"/>
              </a:spcAft>
              <a:defRPr sz="1500">
                <a:solidFill>
                  <a:srgbClr val="2D3A4A"/>
                </a:solidFill>
                <a:latin typeface="Calibri"/>
              </a:defRPr>
            </a:pPr>
            <a:r>
              <a:t>Recherche par département, commune, arrondissement, quartier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4. FONCTIONNALITÉS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778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Rechercher son lieu de vote à partir de informations électorales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5778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Identifier centre et bureau de vote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Carte interactive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Visualiser le lieu de vote sur une carte géographique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2316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Informations pratiques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Adresse, horaires, contacts du centre de vote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5778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Itinéraire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Obtenir le chemin pour se rendre au lieu de vote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55778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Recherche avancée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Par département, commune, arrondissement, quartier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26279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Inscription (CNI)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83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Vérification CNI et inscription en 3 étapes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526279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6177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83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Recevoir les informations électorales importantes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77840"/>
            <a:ext cx="55778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Administration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Dashboard, centres, électeurs, carte admin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577840"/>
            <a:ext cx="557784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Accessibilité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Interface simple pour tous les niveaux numériques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5. PRINCIPE DE FONCTIONNEMENT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822960" cy="82296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94560" y="2011680"/>
            <a:ext cx="457200" cy="457200"/>
          </a:xfrm>
          <a:prstGeom prst="rightArrow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6B"/>
                </a:solidFill>
                <a:latin typeface="Calibri"/>
              </a:defRPr>
            </a:pPr>
            <a:r>
              <a:t>Electeur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L’électeur ouvre</a:t>
            </a:r>
            <a:br/>
            <a:r>
              <a:t>l’application</a:t>
            </a:r>
          </a:p>
        </p:txBody>
      </p:sp>
      <p:sp>
        <p:nvSpPr>
          <p:cNvPr id="8" name="Oval 7"/>
          <p:cNvSpPr/>
          <p:nvPr/>
        </p:nvSpPr>
        <p:spPr>
          <a:xfrm>
            <a:off x="3520440" y="1828800"/>
            <a:ext cx="822960" cy="82296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26280" y="2011680"/>
            <a:ext cx="457200" cy="457200"/>
          </a:xfrm>
          <a:prstGeom prst="rightArrow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6B"/>
                </a:solidFill>
                <a:latin typeface="Calibri"/>
              </a:defRPr>
            </a:pPr>
            <a:r>
              <a:t>Recherche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Il saisit ses</a:t>
            </a:r>
            <a:br/>
            <a:r>
              <a:t>informations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0" y="1828800"/>
            <a:ext cx="822960" cy="82296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58000" y="2011680"/>
            <a:ext cx="457200" cy="457200"/>
          </a:xfrm>
          <a:prstGeom prst="rightArrow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6B"/>
                </a:solidFill>
                <a:latin typeface="Calibri"/>
              </a:defRPr>
            </a:pPr>
            <a:r>
              <a:t>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Le système identifie</a:t>
            </a:r>
            <a:br/>
            <a:r>
              <a:t>le bureau de vote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1828800"/>
            <a:ext cx="822960" cy="82296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89719" y="2011680"/>
            <a:ext cx="457200" cy="457200"/>
          </a:xfrm>
          <a:prstGeom prst="rightArrow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6B"/>
                </a:solidFill>
                <a:latin typeface="Calibri"/>
              </a:defRPr>
            </a:pPr>
            <a:r>
              <a:t>Localisation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Le lieu s’affiche</a:t>
            </a:r>
            <a:br/>
            <a:r>
              <a:t>sur la carte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0" y="1828800"/>
            <a:ext cx="822960" cy="82296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6B"/>
                </a:solidFill>
                <a:latin typeface="Calibri"/>
              </a:defRPr>
            </a:pPr>
            <a:r>
              <a:t>Itinéraire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383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A4A"/>
                </a:solidFill>
                <a:latin typeface="Calibri"/>
              </a:defRPr>
            </a:pPr>
            <a:r>
              <a:t>L’application guide</a:t>
            </a:r>
            <a:br/>
            <a:r>
              <a:t>vers le lieu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F2C"/>
                </a:solidFill>
                <a:latin typeface="Calibri"/>
              </a:defRPr>
            </a:pPr>
            <a:r>
              <a:t>Source des 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A4A"/>
                </a:solidFill>
                <a:latin typeface="Calibri"/>
              </a:defRPr>
            </a:pPr>
            <a:r>
              <a:t>L’application s’appuie sur les données officielles communiquées et validées par les autorités électorales compétentes, afin d’éviter la diffusion d’informations non vérifiées.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6. ARCHITECTURE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1188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HTML5 / CSS3 / Tailwind / JavaScript</a:t>
            </a:r>
            <a:br/>
            <a:r>
              <a:t>Application web responsive (5 pages)</a:t>
            </a:r>
            <a:br/>
            <a:r>
              <a:t>Leaflet.js — carte interactive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97480"/>
            <a:ext cx="10362895" cy="118872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API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346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API Flask — /api/v1 (20+ endpoints)</a:t>
            </a:r>
            <a:br/>
            <a:r>
              <a:t>JWT + rate limiting</a:t>
            </a:r>
            <a:br/>
            <a:r>
              <a:t>Santé, stats, inscription,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023360"/>
            <a:ext cx="10362895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1605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Python / Flask 3</a:t>
            </a:r>
            <a:br/>
            <a:r>
              <a:t>Logique métier — mode démo</a:t>
            </a:r>
            <a:br/>
            <a:r>
              <a:t>Géolocalisation (distance Haversine)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49240"/>
            <a:ext cx="10362895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4864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PostgreSQL / PostGIS — 11 tables</a:t>
            </a:r>
            <a:br/>
            <a:r>
              <a:t>Cache (Redis)</a:t>
            </a:r>
            <a:br/>
            <a:r>
              <a:t>Migrations Alembic + seeds prêts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7. PARTIES PRENANTES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7784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6B"/>
                </a:solidFill>
                <a:latin typeface="Calibri"/>
              </a:defRPr>
            </a:pPr>
            <a:r>
              <a:t>Autorités électorales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554480"/>
            <a:ext cx="210312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Donneur d’ordre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Fournisseur de données officielles</a:t>
            </a:r>
            <a:br/>
            <a:r>
              <a:t>Validation des informations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57784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6B"/>
                </a:solidFill>
                <a:latin typeface="Calibri"/>
              </a:defRPr>
            </a:pPr>
            <a:r>
              <a:t>Citoyens/Électeurs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1554480"/>
            <a:ext cx="210312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554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Bénéficiaires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Utilisateurs finaux</a:t>
            </a:r>
            <a:br/>
            <a:r>
              <a:t>Bénéficiaires de l’application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57784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6B"/>
                </a:solidFill>
                <a:latin typeface="Calibri"/>
              </a:defRPr>
            </a:pPr>
            <a:r>
              <a:t>Équipe technique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114800"/>
            <a:ext cx="210312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Exécution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Développement et maintenance</a:t>
            </a:r>
            <a:br/>
            <a:r>
              <a:t>Conception et intégration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57784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6B"/>
                </a:solidFill>
                <a:latin typeface="Calibri"/>
              </a:defRPr>
            </a:pPr>
            <a:r>
              <a:t>Gouvernement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4114800"/>
            <a:ext cx="210312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Supervision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548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A4A"/>
                </a:solidFill>
                <a:latin typeface="Calibri"/>
              </a:defRPr>
            </a:pPr>
            <a:r>
              <a:t>Supervision et réglementation</a:t>
            </a:r>
            <a:br/>
            <a:r>
              <a:t>Validation nationale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8. PLAN DE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78892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1: Analyse et Conception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2788920" cy="36576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Mois 1-2 · Terminée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27889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Collecte des besoins</a:t>
            </a:r>
            <a:br/>
            <a:r>
              <a:t>Conception technique</a:t>
            </a:r>
            <a:br/>
            <a:r>
              <a:t>Modélisation des données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78892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2: Développement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011680"/>
            <a:ext cx="2788920" cy="36576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0116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Mois 3-6 · Terminée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377440"/>
            <a:ext cx="27889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56032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Frontend + carte (Leaflet)</a:t>
            </a:r>
            <a:br/>
            <a:r>
              <a:t>Backend Flask (API REST)</a:t>
            </a:r>
            <a:br/>
            <a:r>
              <a:t>Inscription CNI +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78892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3: Tests et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2788920" cy="36576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116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Mois 7-8 · En cours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377440"/>
            <a:ext cx="27889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56032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Tests unitaires</a:t>
            </a:r>
            <a:br/>
            <a:r>
              <a:t>Tests d'intégration</a:t>
            </a:r>
            <a:br/>
            <a:r>
              <a:t>Sécurité et pentest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371600"/>
            <a:ext cx="2788920" cy="6400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4: Déploiement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2011680"/>
            <a:ext cx="2788920" cy="36576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0116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Mois 9-10 · À venir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2377440"/>
            <a:ext cx="278892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56032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Revue finale</a:t>
            </a:r>
            <a:br/>
            <a:r>
              <a:t>Mise en production</a:t>
            </a:r>
            <a:br/>
            <a:r>
              <a:t>Support technique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10. RÉSULTATS ATTENDUS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2895" cy="1645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3A4A"/>
                </a:solidFill>
                <a:latin typeface="Calibri"/>
              </a:defRPr>
            </a:pPr>
            <a:r>
              <a:t>« Où dois-je aller pour voter ? »</a:t>
            </a:r>
            <a:br/>
            <a:br/>
            <a:r>
              <a:t>L’application fournit une réponse claire, fiable et géographiquement exploitable 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25603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Centre de vote identifié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657600"/>
            <a:ext cx="25603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Bureau de vote déterminé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657600"/>
            <a:ext cx="25603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Adresse et localisation affichées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3657600"/>
            <a:ext cx="256032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3794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389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Itinéraire calculé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11. VISION À LONG TERME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D0E8F8"/>
                </a:solidFill>
                <a:latin typeface="Calibri"/>
              </a:defRPr>
            </a:pPr>
            <a:r>
              <a:t>• Plateforme nationale d’information électorale</a:t>
            </a:r>
          </a:p>
          <a:p>
            <a:pPr>
              <a:spcAft>
                <a:spcPts val="1600"/>
              </a:spcAft>
              <a:defRPr sz="2000">
                <a:solidFill>
                  <a:srgbClr val="D0E8F8"/>
                </a:solidFill>
                <a:latin typeface="Calibri"/>
              </a:defRPr>
            </a:pPr>
            <a:r>
              <a:t>• Orientation des citoyens vers leur lieu de vote</a:t>
            </a:r>
          </a:p>
          <a:p>
            <a:pPr>
              <a:spcAft>
                <a:spcPts val="1600"/>
              </a:spcAft>
              <a:defRPr sz="2000">
                <a:solidFill>
                  <a:srgbClr val="D0E8F8"/>
                </a:solidFill>
                <a:latin typeface="Calibri"/>
              </a:defRPr>
            </a:pPr>
            <a:r>
              <a:t>• Séparation claire entre info électorale et communication politique</a:t>
            </a:r>
          </a:p>
          <a:p>
            <a:pPr>
              <a:spcAft>
                <a:spcPts val="1600"/>
              </a:spcAft>
              <a:defRPr sz="2000">
                <a:solidFill>
                  <a:srgbClr val="D0E8F8"/>
                </a:solidFill>
                <a:latin typeface="Calibri"/>
              </a:defRPr>
            </a:pPr>
            <a:r>
              <a:t>• Extension à d’autres processus démocratiques</a:t>
            </a:r>
          </a:p>
          <a:p>
            <a:pPr>
              <a:spcAft>
                <a:spcPts val="1600"/>
              </a:spcAft>
              <a:defRPr sz="2000">
                <a:solidFill>
                  <a:srgbClr val="D0E8F8"/>
                </a:solidFill>
                <a:latin typeface="Calibri"/>
              </a:defRPr>
            </a:pPr>
            <a:r>
              <a:t>• Modèle réplicable dans d’autres pays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6F2C"/>
                </a:solidFill>
                <a:latin typeface="Calibri"/>
              </a:defRPr>
            </a:pPr>
            <a:r>
              <a:t>Ensemble, facilitons la participation démocratique</a:t>
            </a:r>
            <a:br/>
            <a:r>
              <a:t>grâce au numérique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9. ÉTAT D'AVANCEMENT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57784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✓ Planification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Terminée — spécifications, backlog et architecture</a:t>
            </a:r>
          </a:p>
        </p:txBody>
      </p:sp>
      <p:sp>
        <p:nvSpPr>
          <p:cNvPr id="7" name="Rectangle 3"/>
          <p:cNvSpPr/>
          <p:nvPr/>
        </p:nvSpPr>
        <p:spPr>
          <a:xfrm>
            <a:off x="6309360" y="1463040"/>
            <a:ext cx="557784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4"/>
          <p:cNvSpPr txBox="1"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✓ Architecture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658368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Terminée — design system et schéma BDD (11 tables)</a:t>
            </a:r>
          </a:p>
        </p:txBody>
      </p:sp>
      <p:sp>
        <p:nvSpPr>
          <p:cNvPr id="10" name="Rectangle 3"/>
          <p:cNvSpPr/>
          <p:nvPr/>
        </p:nvSpPr>
        <p:spPr>
          <a:xfrm>
            <a:off x="457200" y="2743200"/>
            <a:ext cx="557784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4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✓ Développement</a:t>
            </a:r>
          </a:p>
        </p:txBody>
      </p:sp>
      <p:sp>
        <p:nvSpPr>
          <p:cNvPr id="12" name="TextBox 5"/>
          <p:cNvSpPr txBox="1"/>
          <p:nvPr/>
        </p:nvSpPr>
        <p:spPr>
          <a:xfrm>
            <a:off x="731520" y="3246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Terminée — 5 pages, API REST, inscription CNI, admin</a:t>
            </a:r>
          </a:p>
        </p:txBody>
      </p:sp>
      <p:sp>
        <p:nvSpPr>
          <p:cNvPr id="13" name="Rectangle 3"/>
          <p:cNvSpPr/>
          <p:nvPr/>
        </p:nvSpPr>
        <p:spPr>
          <a:xfrm>
            <a:off x="6309360" y="2743200"/>
            <a:ext cx="557784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4"/>
          <p:cNvSpPr txBox="1"/>
          <p:nvPr/>
        </p:nvSpPr>
        <p:spPr>
          <a:xfrm>
            <a:off x="658368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● Tests</a:t>
            </a:r>
          </a:p>
        </p:txBody>
      </p:sp>
      <p:sp>
        <p:nvSpPr>
          <p:cNvPr id="15" name="TextBox 5"/>
          <p:cNvSpPr txBox="1"/>
          <p:nvPr/>
        </p:nvSpPr>
        <p:spPr>
          <a:xfrm>
            <a:off x="6583680" y="3246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En cours — tests unitaires et intégration (test-001)</a:t>
            </a:r>
          </a:p>
        </p:txBody>
      </p:sp>
      <p:sp>
        <p:nvSpPr>
          <p:cNvPr id="16" name="Rectangle 3"/>
          <p:cNvSpPr/>
          <p:nvPr/>
        </p:nvSpPr>
        <p:spPr>
          <a:xfrm>
            <a:off x="457200" y="4022880"/>
            <a:ext cx="557784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4"/>
          <p:cNvSpPr txBox="1"/>
          <p:nvPr/>
        </p:nvSpPr>
        <p:spPr>
          <a:xfrm>
            <a:off x="731520" y="4114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○ Sécurité &amp; Pentest</a:t>
            </a:r>
          </a:p>
        </p:txBody>
      </p:sp>
      <p:sp>
        <p:nvSpPr>
          <p:cNvPr id="18" name="TextBox 5"/>
          <p:cNvSpPr txBox="1"/>
          <p:nvPr/>
        </p:nvSpPr>
        <p:spPr>
          <a:xfrm>
            <a:off x="731520" y="4525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À venir — après validation des tests au vert</a:t>
            </a:r>
          </a:p>
        </p:txBody>
      </p:sp>
      <p:sp>
        <p:nvSpPr>
          <p:cNvPr id="19" name="Rectangle 3"/>
          <p:cNvSpPr/>
          <p:nvPr/>
        </p:nvSpPr>
        <p:spPr>
          <a:xfrm>
            <a:off x="6309360" y="4022880"/>
            <a:ext cx="557784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4"/>
          <p:cNvSpPr txBox="1"/>
          <p:nvPr/>
        </p:nvSpPr>
        <p:spPr>
          <a:xfrm>
            <a:off x="6583680" y="4114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✓ Documentation</a:t>
            </a:r>
          </a:p>
        </p:txBody>
      </p:sp>
      <p:sp>
        <p:nvSpPr>
          <p:cNvPr id="21" name="TextBox 5"/>
          <p:cNvSpPr txBox="1"/>
          <p:nvPr/>
        </p:nvSpPr>
        <p:spPr>
          <a:xfrm>
            <a:off x="6583680" y="4525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A4A"/>
                </a:solidFill>
                <a:latin typeface="Calibri"/>
              </a:defRPr>
            </a:pPr>
            <a:r>
              <a:t>À jour — README, specs v1.1, backlog, présentation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7200" y="5303520"/>
            <a:ext cx="11277295" cy="128016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3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F2C"/>
                </a:solidFill>
                <a:latin typeface="Calibri"/>
              </a:defRPr>
            </a:pPr>
            <a:r>
              <a:t>Prochaines étapes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A4A"/>
                </a:solidFill>
                <a:latin typeface="Calibri"/>
              </a:defRPr>
            </a:pPr>
            <a:r>
              <a:t>Tests au vert → sécurité → pentest → revue → déploiement. Backend actuellement en mode démo : basculement PostgreSQL prêt (migrations + seeds).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